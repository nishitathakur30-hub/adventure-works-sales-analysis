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Top 5 Subcategory Sales (K)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(K)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CFC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5D9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0E8E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Road Bikes</c:v>
                </c:pt>
                <c:pt idx="1">
                  <c:v>Mountain Bikes</c:v>
                </c:pt>
                <c:pt idx="2">
                  <c:v>Touring Bikes</c:v>
                </c:pt>
                <c:pt idx="3">
                  <c:v>Tires &amp; Tubes</c:v>
                </c:pt>
                <c:pt idx="4">
                  <c:v>Helmets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14521</c:v>
                </c:pt>
                <c:pt idx="1">
                  <c:v>9953</c:v>
                </c:pt>
                <c:pt idx="2">
                  <c:v>3845</c:v>
                </c:pt>
                <c:pt idx="3">
                  <c:v>246</c:v>
                </c:pt>
                <c:pt idx="4">
                  <c:v>225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0223240"/>
        <c:axId val="420226376"/>
      </c:barChart>
      <c:catAx>
        <c:axId val="4202232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26376"/>
        <c:crosses val="autoZero"/>
        <c:auto val="1"/>
        <c:lblAlgn val="ctr"/>
        <c:lblOffset val="100"/>
        <c:noMultiLvlLbl val="1"/>
      </c:catAx>
      <c:valAx>
        <c:axId val="42022637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23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Product Category Mix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F4A300"/>
              </a:solidFill>
              <a:effectLst/>
            </c:spPr>
          </c:dPt>
          <c:dPt>
            <c:idx val="2"/>
            <c:bubble3D val="0"/>
            <c:spPr>
              <a:solidFill>
                <a:srgbClr val="0D1B2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28.32</c:v>
                </c:pt>
                <c:pt idx="1">
                  <c:v>0.7</c:v>
                </c:pt>
                <c:pt idx="2">
                  <c:v>0.34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Yearly Sales Trend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ln w="38100" cap="flat">
              <a:solidFill>
                <a:srgbClr val="F4A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300"/>
              </a:solidFill>
              <a:ln w="9525" cap="flat">
                <a:solidFill>
                  <a:srgbClr val="F4A3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</c:v>
                </c:pt>
                <c:pt idx="1">
                  <c:v>7.08</c:v>
                </c:pt>
                <c:pt idx="2">
                  <c:v>5.84</c:v>
                </c:pt>
                <c:pt idx="3">
                  <c:v>16.350000000000001</c:v>
                </c:pt>
                <c:pt idx="4">
                  <c:v>0.05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20222456"/>
        <c:axId val="420219320"/>
      </c:lineChart>
      <c:catAx>
        <c:axId val="420222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19320"/>
        <c:crosses val="autoZero"/>
        <c:auto val="1"/>
        <c:lblAlgn val="ctr"/>
        <c:lblOffset val="100"/>
        <c:noMultiLvlLbl val="1"/>
      </c:catAx>
      <c:valAx>
        <c:axId val="42021932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22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Monthly Avg Sales (₹ Thousands) — Seasonal Analysis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Lakhs)</c:v>
                </c:pt>
              </c:strCache>
            </c:strRef>
          </c:tx>
          <c:spPr>
            <a:ln w="38100" cap="flat">
              <a:solidFill>
                <a:srgbClr val="F4A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300"/>
              </a:solidFill>
              <a:ln w="9525" cap="flat">
                <a:solidFill>
                  <a:srgbClr val="F4A3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467</c:v>
                </c:pt>
                <c:pt idx="1">
                  <c:v>582</c:v>
                </c:pt>
                <c:pt idx="2">
                  <c:v>636</c:v>
                </c:pt>
                <c:pt idx="3">
                  <c:v>649</c:v>
                </c:pt>
                <c:pt idx="4">
                  <c:v>735</c:v>
                </c:pt>
                <c:pt idx="5">
                  <c:v>979</c:v>
                </c:pt>
                <c:pt idx="6">
                  <c:v>804</c:v>
                </c:pt>
                <c:pt idx="7">
                  <c:v>897</c:v>
                </c:pt>
                <c:pt idx="8">
                  <c:v>846</c:v>
                </c:pt>
                <c:pt idx="9">
                  <c:v>972</c:v>
                </c:pt>
                <c:pt idx="10">
                  <c:v>993</c:v>
                </c:pt>
                <c:pt idx="11">
                  <c:v>803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Target</c:v>
                </c:pt>
              </c:strCache>
            </c:strRef>
          </c:tx>
          <c:spPr>
            <a:ln w="38100" cap="flat">
              <a:solidFill>
                <a:srgbClr val="7180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18096"/>
              </a:solidFill>
              <a:ln w="9525" cap="flat">
                <a:solidFill>
                  <a:srgbClr val="71809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750</c:v>
                </c:pt>
                <c:pt idx="1">
                  <c:v>750</c:v>
                </c:pt>
                <c:pt idx="2">
                  <c:v>750</c:v>
                </c:pt>
                <c:pt idx="3">
                  <c:v>750</c:v>
                </c:pt>
                <c:pt idx="4">
                  <c:v>750</c:v>
                </c:pt>
                <c:pt idx="5">
                  <c:v>750</c:v>
                </c:pt>
                <c:pt idx="6">
                  <c:v>750</c:v>
                </c:pt>
                <c:pt idx="7">
                  <c:v>750</c:v>
                </c:pt>
                <c:pt idx="8">
                  <c:v>750</c:v>
                </c:pt>
                <c:pt idx="9">
                  <c:v>750</c:v>
                </c:pt>
                <c:pt idx="10">
                  <c:v>750</c:v>
                </c:pt>
                <c:pt idx="11">
                  <c:v>750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0222848"/>
        <c:axId val="420224024"/>
      </c:lineChart>
      <c:catAx>
        <c:axId val="4202228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420224024"/>
        <c:crosses val="autoZero"/>
        <c:auto val="1"/>
        <c:lblAlgn val="ctr"/>
        <c:lblOffset val="100"/>
        <c:noMultiLvlLbl val="1"/>
      </c:catAx>
      <c:valAx>
        <c:axId val="42022402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420222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Customer Distribution by Country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CFC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5D9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0E8E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0F0E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France</c:v>
                </c:pt>
                <c:pt idx="4">
                  <c:v>Germany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42.3</c:v>
                </c:pt>
                <c:pt idx="1">
                  <c:v>19.43</c:v>
                </c:pt>
                <c:pt idx="2">
                  <c:v>10.35</c:v>
                </c:pt>
                <c:pt idx="3">
                  <c:v>9.7899999999999991</c:v>
                </c:pt>
                <c:pt idx="4">
                  <c:v>9.6300000000000008</c:v>
                </c:pt>
                <c:pt idx="5">
                  <c:v>8.5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0225200"/>
        <c:axId val="420229904"/>
      </c:barChart>
      <c:catAx>
        <c:axId val="4202252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29904"/>
        <c:crosses val="autoZero"/>
        <c:auto val="1"/>
        <c:lblAlgn val="ctr"/>
        <c:lblOffset val="100"/>
        <c:noMultiLvlLbl val="1"/>
      </c:catAx>
      <c:valAx>
        <c:axId val="42022990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25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</a:rPr>
              <a:t>Sales Amount by Country (₹M)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9.39</c:v>
                </c:pt>
                <c:pt idx="1">
                  <c:v>9.06</c:v>
                </c:pt>
                <c:pt idx="2">
                  <c:v>3.39</c:v>
                </c:pt>
                <c:pt idx="3">
                  <c:v>2.89</c:v>
                </c:pt>
                <c:pt idx="4">
                  <c:v>2.64</c:v>
                </c:pt>
                <c:pt idx="5">
                  <c:v>1.98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0230296"/>
        <c:axId val="420225592"/>
      </c:barChart>
      <c:catAx>
        <c:axId val="420230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25592"/>
        <c:crosses val="autoZero"/>
        <c:auto val="1"/>
        <c:lblAlgn val="ctr"/>
        <c:lblOffset val="100"/>
        <c:noMultiLvlLbl val="1"/>
      </c:catAx>
      <c:valAx>
        <c:axId val="42022559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420230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Top 5 Best-Selling Products (₹M)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Mtn-200 Black,46</c:v>
                </c:pt>
                <c:pt idx="1">
                  <c:v>Mtn-200 Black,42</c:v>
                </c:pt>
                <c:pt idx="2">
                  <c:v>Mtn-200 Silver,38</c:v>
                </c:pt>
                <c:pt idx="3">
                  <c:v>Mtn-200 Silver,46</c:v>
                </c:pt>
                <c:pt idx="4">
                  <c:v>Mtn-200 Black,38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1.37</c:v>
                </c:pt>
                <c:pt idx="1">
                  <c:v>1.36</c:v>
                </c:pt>
                <c:pt idx="2">
                  <c:v>1.34</c:v>
                </c:pt>
                <c:pt idx="3">
                  <c:v>1.3</c:v>
                </c:pt>
                <c:pt idx="4">
                  <c:v>1.29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0227944"/>
        <c:axId val="420231864"/>
      </c:barChart>
      <c:catAx>
        <c:axId val="4202279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420231864"/>
        <c:crosses val="autoZero"/>
        <c:auto val="1"/>
        <c:lblAlgn val="ctr"/>
        <c:lblOffset val="100"/>
        <c:noMultiLvlLbl val="1"/>
      </c:catAx>
      <c:valAx>
        <c:axId val="42023186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D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420227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Regional Sales Performance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A8A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Australia</c:v>
                </c:pt>
                <c:pt idx="1">
                  <c:v>Southwest</c:v>
                </c:pt>
                <c:pt idx="2">
                  <c:v>Northwest</c:v>
                </c:pt>
                <c:pt idx="3">
                  <c:v>United Kingdom</c:v>
                </c:pt>
                <c:pt idx="4">
                  <c:v>Germany</c:v>
                </c:pt>
                <c:pt idx="5">
                  <c:v>France</c:v>
                </c:pt>
                <c:pt idx="6">
                  <c:v>Canada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9.06</c:v>
                </c:pt>
                <c:pt idx="1">
                  <c:v>5.72</c:v>
                </c:pt>
                <c:pt idx="2">
                  <c:v>3.65</c:v>
                </c:pt>
                <c:pt idx="3">
                  <c:v>3.39</c:v>
                </c:pt>
                <c:pt idx="4">
                  <c:v>2.89</c:v>
                </c:pt>
                <c:pt idx="5">
                  <c:v>2.64</c:v>
                </c:pt>
                <c:pt idx="6">
                  <c:v>1.98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0241664"/>
        <c:axId val="420236960"/>
      </c:barChart>
      <c:catAx>
        <c:axId val="420241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420236960"/>
        <c:crosses val="autoZero"/>
        <c:auto val="1"/>
        <c:lblAlgn val="ctr"/>
        <c:lblOffset val="100"/>
        <c:noMultiLvlLbl val="1"/>
      </c:catAx>
      <c:valAx>
        <c:axId val="420236960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D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0"/>
                </a:solidFill>
                <a:latin typeface="Arial"/>
              </a:defRPr>
            </a:pPr>
            <a:endParaRPr lang="en-US"/>
          </a:p>
        </c:txPr>
        <c:crossAx val="420241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84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11480" cy="67848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73152"/>
            <a:ext cx="2560320" cy="678484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2011680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ADVENTURE WORKS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Report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502920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0"/>
                </a:solidFill>
              </a:rPr>
              <a:t>Adventure Works Cycles | Power BI Dashboard Analysis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0"/>
                </a:solidFill>
              </a:rPr>
              <a:t>2010 – 2014 | Bikes, Accessories &amp; Clothing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96596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41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300"/>
                </a:solidFill>
              </a:rPr>
              <a:t>₹ 29.36M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4531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4023360"/>
            <a:ext cx="196596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4041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300"/>
                </a:solidFill>
              </a:rPr>
              <a:t>₹ 12.08M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80360" y="44531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</a:rPr>
              <a:t>Net Profit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4023360"/>
            <a:ext cx="196596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041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300"/>
                </a:solidFill>
              </a:rPr>
              <a:t>41.15%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44531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8040" y="4023360"/>
            <a:ext cx="196596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4041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300"/>
                </a:solidFill>
              </a:rPr>
              <a:t>18.48K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44531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</a:rPr>
              <a:t>Total Customers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0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</a:rPr>
              <a:t>GROUP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692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Kirthana Ashok Kumar Naik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46920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Swarna 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46920" y="204825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Janhavi Shivajirao Patole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46920" y="25237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Balaji.B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46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Nishita Thakur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46920" y="3474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Gaware Suhani Subhash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46920" y="39502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Singh Harsh Gyanendra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074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05840"/>
            <a:ext cx="5303520" cy="5303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05840"/>
            <a:ext cx="530352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About Adventure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627632"/>
            <a:ext cx="201168" cy="20116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554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Large multinational manufacturing company headquartered in Bothell, Washington with 290 employees.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633472"/>
            <a:ext cx="201168" cy="20116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5603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Manufactures and sells metal &amp; composite bicycles to North American, European and Asian markets.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639312"/>
            <a:ext cx="201168" cy="20116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Expanded with a Mexico manufacturing plant (est. 2000s) — sole producer of touring bicycles by 2001.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645152"/>
            <a:ext cx="201168" cy="20116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720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Goal: Increase market share, extend product availability online, and reduce production costs.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00584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005840"/>
            <a:ext cx="557784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005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Requirements &amp; KPIs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1600200"/>
            <a:ext cx="521208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</a:rPr>
              <a:t>Business Goal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1947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Increase Revenue, Cut Costs, Improve Targeting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2468880"/>
            <a:ext cx="52120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</a:rPr>
              <a:t>KPIs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Sales Amount, Production Cost, Profit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337560"/>
            <a:ext cx="521208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</a:rPr>
              <a:t>Domain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Retail / Manufacturing (Bicycles &amp; Accessories)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4206240"/>
            <a:ext cx="52120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</a:rPr>
              <a:t>Dataset Period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4553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2010 – 2014 (5 Years)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5074920"/>
            <a:ext cx="521208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5422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~60,400 Internet Sales Orders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36118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36118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FactInternetSales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Core transactional data — sales orders, amounts, costs, 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33375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300"/>
                </a:solidFill>
              </a:rPr>
              <a:t>~60,400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097280"/>
            <a:ext cx="36118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97280"/>
            <a:ext cx="36118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0972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DimCustomer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6002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Customer demographics, geography, account info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33375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300"/>
                </a:solidFill>
              </a:rPr>
              <a:t>18,484 records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097280"/>
            <a:ext cx="36118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097280"/>
            <a:ext cx="36118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0972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DimProduct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16002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Product catalog — names, categories, standard costs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2788920"/>
            <a:ext cx="33375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300"/>
                </a:solidFill>
              </a:rPr>
              <a:t>606 products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36118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566160"/>
            <a:ext cx="36118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DimProductCategory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06908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4 categories: Bikes, Components, Clothing, Accessories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5257800"/>
            <a:ext cx="33375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57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300"/>
                </a:solidFill>
              </a:rPr>
              <a:t>4 categories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3566160"/>
            <a:ext cx="36118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566160"/>
            <a:ext cx="36118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DimSalesTerritory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06908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Regional info — country, region, group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5257800"/>
            <a:ext cx="33375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5257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300"/>
                </a:solidFill>
              </a:rPr>
              <a:t>11 territories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566160"/>
            <a:ext cx="36118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566160"/>
            <a:ext cx="3611880" cy="411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DimDate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66760" y="406908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Full date dimension for time-series analysis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66760" y="5257800"/>
            <a:ext cx="33375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5257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300"/>
                </a:solidFill>
              </a:rPr>
              <a:t>2010 – 2014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</a:rPr>
              <a:t>Key Columns: CustomerKey · ProductKey · SalesTerritoryKey · OrderDate · SalesAmount · TotalProductCost · OrderQuantity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Objectives &amp; KPIs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0584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5394960" cy="4389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1 — 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536192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14813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Analyze yearly sales trends to monitor business growth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011680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Compare sales contribution across different region groups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4323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Identify top-performing product categories by sales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962656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29077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Analyze customer distribution across regions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00584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05840"/>
            <a:ext cx="539496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0584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2 — Time Series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536192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14813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Analyze yearly, quarterly, and monthly sales trends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2011680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9340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Identify seasonal patterns and peak sales periods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2487168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6693408" y="24323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Compare sales, production cost, and profit over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2962656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29077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Monitor overall business growth and performance changes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703320"/>
            <a:ext cx="5394960" cy="4389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0332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3 — Customer Analysis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4233672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4178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Analyze customer distribution by region and country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4709160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128" y="46542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Identify repeat customers and retention trends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5184648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6" name="Text 34"/>
          <p:cNvSpPr/>
          <p:nvPr/>
        </p:nvSpPr>
        <p:spPr>
          <a:xfrm>
            <a:off x="1024128" y="512978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Top customers based on sales and profit contribution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" y="5660136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" y="56052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Analyze purchasing behavior across different markets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370332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703320"/>
            <a:ext cx="539496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70332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Page 4 — Product &amp; Regional Analysis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92240" y="4233672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93408" y="4178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Analyze sales performance by product category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92240" y="4709160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5" name="Text 43"/>
          <p:cNvSpPr/>
          <p:nvPr/>
        </p:nvSpPr>
        <p:spPr>
          <a:xfrm>
            <a:off x="6693408" y="46542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Identify top-selling and high-profit products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92240" y="5184648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7" name="Text 45"/>
          <p:cNvSpPr/>
          <p:nvPr/>
        </p:nvSpPr>
        <p:spPr>
          <a:xfrm>
            <a:off x="6693408" y="512978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Detect low-profit or loss-making products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92240" y="5660136"/>
            <a:ext cx="10972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9" name="Text 47"/>
          <p:cNvSpPr/>
          <p:nvPr/>
        </p:nvSpPr>
        <p:spPr>
          <a:xfrm>
            <a:off x="6693408" y="56052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</a:rPr>
              <a:t>Compare regional sales and profit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2971800"/>
            <a:ext cx="347472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51560"/>
            <a:ext cx="2057400" cy="5029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23444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121615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A300"/>
                </a:solidFill>
              </a:rPr>
              <a:t>Data Collection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907792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Gathered Adventure Works dataset — 7 tables including FactInternetSales, DimCustomer, DimProduct, DimDate, DimSalesTerritory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28032" y="2971800"/>
            <a:ext cx="347472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907792" y="1051560"/>
            <a:ext cx="2057400" cy="5029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123444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3483864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99232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A300"/>
                </a:solidFill>
              </a:rPr>
              <a:t>Data Cleaning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99232" y="2907792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Handled null values, removed duplicate rows, standardized date formats and product category names using Excel &amp; Power Query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95744" y="2971800"/>
            <a:ext cx="347472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175504" y="1051560"/>
            <a:ext cx="2057400" cy="5029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51576" y="123444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5751576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66944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A300"/>
                </a:solidFill>
              </a:rPr>
              <a:t>Data Transformation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66944" y="2907792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Created calculated columns: Profit = Sales − Cost, Profit Margin %; built relationships between fact and dimension tables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63456" y="2971800"/>
            <a:ext cx="347472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443216" y="1051560"/>
            <a:ext cx="2057400" cy="5029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9288" y="123444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8019288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34656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A300"/>
                </a:solidFill>
              </a:rPr>
              <a:t>Data Modeling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34656" y="2907792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Implemented Star Schema model in Power BI — FactInternetSales at center connected to all dimension tables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10928" y="1051560"/>
            <a:ext cx="2057400" cy="5029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87000" y="123444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802368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A300"/>
                </a:solidFill>
              </a:rPr>
              <a:t>Visualization (Power BI)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02368" y="2907792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Built 4-page interactive dashboard: Overview, Time Series, Customer Analysis, Product &amp; Regional Analysis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Analysis —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960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875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</a:rPr>
              <a:t>₹29.36M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536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Total Sales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0360" y="960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9875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₹17.28M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360" y="1536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Production Cost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20640" y="960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9875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A169"/>
                </a:solidFill>
              </a:rPr>
              <a:t>₹12.08M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1536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Profit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960120"/>
            <a:ext cx="2057400" cy="10058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9875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41.15%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1536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Profit Margin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0" y="960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9875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</a:rPr>
              <a:t>18.48K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0" y="1536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Total Customers</a:t>
            </a:r>
            <a:endParaRPr lang="en-US" sz="9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40080" y="214884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5806440" y="2148840"/>
          <a:ext cx="3017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8915400" y="2148840"/>
          <a:ext cx="2971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Shape 21"/>
          <p:cNvSpPr/>
          <p:nvPr/>
        </p:nvSpPr>
        <p:spPr>
          <a:xfrm>
            <a:off x="640080" y="4800600"/>
            <a:ext cx="112471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4800600"/>
            <a:ext cx="457200" cy="173736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8" name="Text 23"/>
          <p:cNvSpPr/>
          <p:nvPr/>
        </p:nvSpPr>
        <p:spPr>
          <a:xfrm>
            <a:off x="123444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300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143000" y="5285232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0" name="Text 25"/>
          <p:cNvSpPr/>
          <p:nvPr/>
        </p:nvSpPr>
        <p:spPr>
          <a:xfrm>
            <a:off x="1371600" y="52395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Bikes dominate at 96.8% of total sales (₹28.32M); Road Bikes (₹14.5M) and Mountain Bikes (₹9.95M) are top sub-categories.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1143000" y="5632704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2" name="Text 27"/>
          <p:cNvSpPr/>
          <p:nvPr/>
        </p:nvSpPr>
        <p:spPr>
          <a:xfrm>
            <a:off x="1371600" y="558698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2013 was the peak year with ₹16.35M in sales — nearly 3× the 2011 figure. 2014 data appears partial.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1143000" y="5980176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4" name="Text 29"/>
          <p:cNvSpPr/>
          <p:nvPr/>
        </p:nvSpPr>
        <p:spPr>
          <a:xfrm>
            <a:off x="1371600" y="593445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USA (31.98%) and Australia (30.86%) account for nearly 63% of total customers globally.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— Time Series (Monthly Patterns)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Page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F4A300"/>
          </a:solidFill>
          <a:ln/>
        </p:spPr>
      </p:sp>
      <p:graphicFrame>
        <p:nvGraphicFramePr>
          <p:cNvPr id="8" name="Chart 0"/>
          <p:cNvGraphicFramePr/>
          <p:nvPr/>
        </p:nvGraphicFramePr>
        <p:xfrm>
          <a:off x="640080" y="1005840"/>
          <a:ext cx="7132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955280" y="1005840"/>
            <a:ext cx="1828800" cy="15087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</a:rPr>
              <a:t>November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55280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A8A6"/>
                </a:solidFill>
              </a:rPr>
              <a:t>Peak Month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₹993K avg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921240" y="1005840"/>
            <a:ext cx="1828800" cy="15087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2124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</a:rPr>
              <a:t>January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21240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A8A6"/>
                </a:solidFill>
              </a:rPr>
              <a:t>Lowest Month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2124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₹467K avg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955280" y="2697480"/>
            <a:ext cx="1828800" cy="15087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</a:rPr>
              <a:t>+113%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55280" y="3502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A8A6"/>
                </a:solidFill>
              </a:rPr>
              <a:t>Growth (Jan→Nov)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Jan to Nov growth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921240" y="2697480"/>
            <a:ext cx="1828800" cy="15087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2124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</a:rPr>
              <a:t>Oct–Nov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921240" y="3502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A8A6"/>
                </a:solidFill>
              </a:rPr>
              <a:t>Seasonal Pattern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921240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peak sales window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0080" y="4343400"/>
            <a:ext cx="1124712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4343400"/>
            <a:ext cx="457200" cy="21945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4"/>
          <p:cNvSpPr/>
          <p:nvPr/>
        </p:nvSpPr>
        <p:spPr>
          <a:xfrm>
            <a:off x="123444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300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143000" y="4864608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9" name="Text 26"/>
          <p:cNvSpPr/>
          <p:nvPr/>
        </p:nvSpPr>
        <p:spPr>
          <a:xfrm>
            <a:off x="1371600" y="48188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January is the lowest month (₹467K avg); sales ramp sharply from May onwards reaching peak in November (₹993K avg).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143000" y="526694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1" name="Text 28"/>
          <p:cNvSpPr/>
          <p:nvPr/>
        </p:nvSpPr>
        <p:spPr>
          <a:xfrm>
            <a:off x="1371600" y="52212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October–November are the strongest months (₹972K–₹993K avg), indicating year-end buying behaviour.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143000" y="566928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3" name="Text 30"/>
          <p:cNvSpPr/>
          <p:nvPr/>
        </p:nvSpPr>
        <p:spPr>
          <a:xfrm>
            <a:off x="1371600" y="5623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June shows a surprising mid-year spike (₹979K) — possibly due to summer cycling season and promotions.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143000" y="6071616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5" name="Text 32"/>
          <p:cNvSpPr/>
          <p:nvPr/>
        </p:nvSpPr>
        <p:spPr>
          <a:xfrm>
            <a:off x="1371600" y="602589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H1 (Jan–Jun) averages ₹675K/month vs H2 (Jul–Dec) at ₹886K/month — H2 outperforms H1 by 31%.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Analysis — Customer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</p:sp>
      <p:graphicFrame>
        <p:nvGraphicFramePr>
          <p:cNvPr id="8" name="Chart 0"/>
          <p:cNvGraphicFramePr/>
          <p:nvPr/>
        </p:nvGraphicFramePr>
        <p:xfrm>
          <a:off x="640080" y="100584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1005840"/>
            <a:ext cx="1737360" cy="10972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18,484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75320" y="1005840"/>
            <a:ext cx="1737360" cy="10972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42.30%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7532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</a:rPr>
              <a:t>Top Country (US)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149840" y="1005840"/>
            <a:ext cx="1737360" cy="109728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6" name="Text 13"/>
          <p:cNvSpPr/>
          <p:nvPr/>
        </p:nvSpPr>
        <p:spPr>
          <a:xfrm>
            <a:off x="1014984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19.43%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14984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Top Region (Aus)</a:t>
            </a:r>
            <a:endParaRPr lang="en-US" sz="9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400800" y="2286000"/>
          <a:ext cx="54864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640080" y="4069080"/>
            <a:ext cx="1124712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4069080"/>
            <a:ext cx="457200" cy="246888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1" name="Text 17"/>
          <p:cNvSpPr/>
          <p:nvPr/>
        </p:nvSpPr>
        <p:spPr>
          <a:xfrm>
            <a:off x="12344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300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143000" y="4553712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19"/>
          <p:cNvSpPr/>
          <p:nvPr/>
        </p:nvSpPr>
        <p:spPr>
          <a:xfrm>
            <a:off x="1371600" y="450799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USA leads with 42.30% of all customers (7,819), while Australia holds 19.43% (3,591) — together 62% of the customer base.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1143000" y="5010912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1"/>
          <p:cNvSpPr/>
          <p:nvPr/>
        </p:nvSpPr>
        <p:spPr>
          <a:xfrm>
            <a:off x="1371600" y="496519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Europe (UK + Germany + France) contributes ~30% of customers (5,503) — a significant combined market.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1143000" y="5468112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Text 23"/>
          <p:cNvSpPr/>
          <p:nvPr/>
        </p:nvSpPr>
        <p:spPr>
          <a:xfrm>
            <a:off x="1371600" y="542239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Canada accounts for 8.50% of customers — the smallest market despite being North American, with significant growth headroom.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1143000" y="5925312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9" name="Text 25"/>
          <p:cNvSpPr/>
          <p:nvPr/>
        </p:nvSpPr>
        <p:spPr>
          <a:xfrm>
            <a:off x="1371600" y="587959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Retention analysis suggests customer churn increases after the 3rd order — loyalty programs are recommended post-purchase.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— Product &amp; Regional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164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Page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F4A300"/>
          </a:solidFill>
          <a:ln/>
        </p:spPr>
      </p:sp>
      <p:graphicFrame>
        <p:nvGraphicFramePr>
          <p:cNvPr id="8" name="Chart 0"/>
          <p:cNvGraphicFramePr/>
          <p:nvPr/>
        </p:nvGraphicFramePr>
        <p:xfrm>
          <a:off x="640080" y="1005840"/>
          <a:ext cx="5303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126480" y="1005840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547872"/>
            <a:ext cx="53035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3547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Profit Products (Lowest Margin %)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913632"/>
            <a:ext cx="5303520" cy="32918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39136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300"/>
                </a:solidFill>
              </a:rPr>
              <a:t>Product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0" y="39136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300"/>
                </a:solidFill>
              </a:rPr>
              <a:t>Margin %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4261104"/>
            <a:ext cx="5303520" cy="329184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2611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AWC Logo Cap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72000" y="4261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" y="4608576"/>
            <a:ext cx="5303520" cy="32918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4608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Long-Sleeve Logo Jersey, 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572000" y="46085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5303520" cy="329184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" y="49560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Long-Sleeve Logo Jersey, M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572000" y="4956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40080" y="5303520"/>
            <a:ext cx="5303520" cy="32918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5" name="Text 21"/>
          <p:cNvSpPr/>
          <p:nvPr/>
        </p:nvSpPr>
        <p:spPr>
          <a:xfrm>
            <a:off x="777240" y="53035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Short-Sleeve Classic Jersey, XL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572000" y="5303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0080" y="3547872"/>
            <a:ext cx="11247120" cy="3017520"/>
          </a:xfrm>
          <a:prstGeom prst="rect">
            <a:avLst/>
          </a:prstGeom>
          <a:solidFill>
            <a:srgbClr val="1A2E42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" y="3547872"/>
            <a:ext cx="53035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5"/>
          <p:cNvSpPr/>
          <p:nvPr/>
        </p:nvSpPr>
        <p:spPr>
          <a:xfrm>
            <a:off x="640080" y="3547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Profit Products (Lowest Margin %)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3913632"/>
            <a:ext cx="5303520" cy="329184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31" name="Text 27"/>
          <p:cNvSpPr/>
          <p:nvPr/>
        </p:nvSpPr>
        <p:spPr>
          <a:xfrm>
            <a:off x="777240" y="39136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300"/>
                </a:solidFill>
              </a:rPr>
              <a:t>Product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0" y="39136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300"/>
                </a:solidFill>
              </a:rPr>
              <a:t>Margin %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40080" y="4261104"/>
            <a:ext cx="5303520" cy="32918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4" name="Text 30"/>
          <p:cNvSpPr/>
          <p:nvPr/>
        </p:nvSpPr>
        <p:spPr>
          <a:xfrm>
            <a:off x="777240" y="42611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AWC Logo Cap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72000" y="4261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40080" y="4608576"/>
            <a:ext cx="5303520" cy="329184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37" name="Text 33"/>
          <p:cNvSpPr/>
          <p:nvPr/>
        </p:nvSpPr>
        <p:spPr>
          <a:xfrm>
            <a:off x="777240" y="4608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Long-Sleeve Logo Jersey, L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572000" y="46085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40080" y="4956048"/>
            <a:ext cx="5303520" cy="32918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0" name="Text 36"/>
          <p:cNvSpPr/>
          <p:nvPr/>
        </p:nvSpPr>
        <p:spPr>
          <a:xfrm>
            <a:off x="777240" y="49560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Long-Sleeve Logo Jersey, M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0" y="4956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40080" y="5303520"/>
            <a:ext cx="5303520" cy="329184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43" name="Text 39"/>
          <p:cNvSpPr/>
          <p:nvPr/>
        </p:nvSpPr>
        <p:spPr>
          <a:xfrm>
            <a:off x="777240" y="53035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Short-Sleeve Classic Jersey, XL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4572000" y="5303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53E3E"/>
                </a:solidFill>
              </a:rPr>
              <a:t>23.0%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217920" y="3547872"/>
            <a:ext cx="457200" cy="3017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6" name="Text 42"/>
          <p:cNvSpPr/>
          <p:nvPr/>
        </p:nvSpPr>
        <p:spPr>
          <a:xfrm>
            <a:off x="6812280" y="35844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300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748272" y="4059936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8" name="Text 44"/>
          <p:cNvSpPr/>
          <p:nvPr/>
        </p:nvSpPr>
        <p:spPr>
          <a:xfrm>
            <a:off x="6967728" y="40050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Mountain-200 series dominates all top 5 best-sellers — all in the ₹1.29M–₹1.37M range, strong brand concentration.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6748272" y="462686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0" name="Text 46"/>
          <p:cNvSpPr/>
          <p:nvPr/>
        </p:nvSpPr>
        <p:spPr>
          <a:xfrm>
            <a:off x="6967728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Australia leads all regions at ₹9.06M, surpassing even the entire US Southwest (₹5.72M) by 58%.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748272" y="519379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2" name="Text 48"/>
          <p:cNvSpPr/>
          <p:nvPr/>
        </p:nvSpPr>
        <p:spPr>
          <a:xfrm>
            <a:off x="6967728" y="51389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Accessories &amp; Clothing account for &lt;3% of total revenue — prime candidates for promotional upselling strategies.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748272" y="576072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4" name="Text 50"/>
          <p:cNvSpPr/>
          <p:nvPr/>
        </p:nvSpPr>
        <p:spPr>
          <a:xfrm>
            <a:off x="6967728" y="57058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AWC Logo Cap &amp; Jerseys have only 23% profit margin — the lowest in the catalog. Price revision or bundling recommended.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Recommendations &amp;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058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356616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Boost Accessories &amp; Clothing Sales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Accessories (2%) and Clothing (1%) are under-monetized. Bundle deals and cross-sell campaigns alongside Bikes can increase basket value by an estimated 15–20%.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0058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005840"/>
            <a:ext cx="35661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Launch Customer Loyalty Program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153619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Customer churn rises after the 3rd order. A tiered loyalty program — offering discounts, early access, or service benefits — can improve retention rate significantly.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0058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005840"/>
            <a:ext cx="356616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Seasonal Campaign Optimization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75320" y="153619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April consistently shows the lowest sales. Targeted promotions or limited-edition launches in Q2 can smoothen the revenue curve and reduce seasonal revenue dips.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566160"/>
            <a:ext cx="35661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Expand Canada Market Presence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09651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Canada contributes only 6.74% of customers despite being a major North American market. Localized marketing campaigns can unlock significant growth potential.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5661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566160"/>
            <a:ext cx="356616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566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Review Low-Profit Products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409651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Products like Patch Kit (4,570 units) and AWC Logo Cap (4,530 units) generate high volume but low profit. Consider price revision, bundling, or discontinuation.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5661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3566160"/>
            <a:ext cx="35661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566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Double Down on Mountain-200 Series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5320" y="409651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The Mountain-200 series accounts for all top 5 best-selling products. Expanding color/size variants and premium positioning can further grow this segment.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05840"/>
            <a:ext cx="5486400" cy="530352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5486400" cy="4389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Summary of Findings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572768"/>
            <a:ext cx="73152" cy="4572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300"/>
                </a:solidFill>
              </a:rPr>
              <a:t>Revenue Peak: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2013 was the highest sales year at ₹16.35M — strong execution in product and market expansion.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286000"/>
            <a:ext cx="73152" cy="4572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300"/>
                </a:solidFill>
              </a:rPr>
              <a:t>Category Dominance: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Bikes contribute 96.8% of all revenue; accessories and clothing represent untapped cross-sell potential.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999232"/>
            <a:ext cx="73152" cy="4572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999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300"/>
                </a:solidFill>
              </a:rPr>
              <a:t>Geographic Strength: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255264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USA and Australia together drive 63% of customers and ~62% of total sales.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3712464"/>
            <a:ext cx="73152" cy="4572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712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300"/>
                </a:solidFill>
              </a:rPr>
              <a:t>Retention Gap: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968496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Customer churn spikes after the 3rd order — a critical retention window that needs addressing.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4425696"/>
            <a:ext cx="73152" cy="4572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425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300"/>
                </a:solidFill>
              </a:rPr>
              <a:t>Product Concentration: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468172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Mountain-200 series (5 variants) dominates the top product list — both a strength and a risk.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5138928"/>
            <a:ext cx="73152" cy="4572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300"/>
                </a:solidFill>
              </a:rPr>
              <a:t>Seasonal Opportunity: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53949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Nov–Dec peak and April dip present clear windows for promotional intervention.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1005840"/>
            <a:ext cx="5486400" cy="5303520"/>
          </a:xfrm>
          <a:prstGeom prst="rect">
            <a:avLst/>
          </a:prstGeom>
          <a:solidFill>
            <a:srgbClr val="1A2E42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005840"/>
            <a:ext cx="5486400" cy="43891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1005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Challenges &amp; Learnings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1572768"/>
            <a:ext cx="5212080" cy="320040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A8A6"/>
                </a:solidFill>
              </a:rPr>
              <a:t>Challenges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201168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195681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Large dataset (~60K rows) required careful query optimization in SQL.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46888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41401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Multiple dimension tables required careful Star Schema modeling in Power BI.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29400" y="292608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287121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2014 data is partial — year-over-year comparisons needed contextual adjustment.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3465576"/>
            <a:ext cx="5212080" cy="320040"/>
          </a:xfrm>
          <a:prstGeom prst="rect">
            <a:avLst/>
          </a:prstGeom>
          <a:solidFill>
            <a:srgbClr val="15284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4655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A8A6"/>
                </a:solidFill>
              </a:rPr>
              <a:t>Learnings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3904488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38496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End-to-end analytics pipeline: raw data → SQL → Power BI → insight.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4361688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4306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Importance of data relationships and calculated columns in DAX.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29400" y="4818888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47640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Business storytelling through structured, multi-page dashboard design.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29400" y="5276088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52212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</a:rPr>
              <a:t>Identified real revenue levers through product &amp; regional segmentation.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Snapshot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2286000" cy="45720"/>
          </a:xfrm>
          <a:prstGeom prst="rect">
            <a:avLst/>
          </a:prstGeom>
          <a:solidFill>
            <a:srgbClr val="F4A300"/>
          </a:solidFill>
          <a:ln/>
        </p:spPr>
      </p:sp>
      <p:pic>
        <p:nvPicPr>
          <p:cNvPr id="6" name="Image 0" descr="/mnt/user-data/uploads/Screenshot_2026-06-03_1141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005840"/>
            <a:ext cx="71323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005840"/>
            <a:ext cx="3840480" cy="4023360"/>
          </a:xfrm>
          <a:prstGeom prst="rect">
            <a:avLst/>
          </a:prstGeom>
          <a:solidFill>
            <a:srgbClr val="1A2E4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463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00"/>
                </a:solidFill>
              </a:rPr>
              <a:t>Thank You!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503920" y="2331720"/>
            <a:ext cx="292608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</a:rPr>
              <a:t>Group 3 | Data Analytics Project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Kirthana Ashok Kumar Naik</a:t>
            </a:r>
          </a:p>
        </p:txBody>
      </p:sp>
      <p:sp>
        <p:nvSpPr>
          <p:cNvPr id="12" name="Text 9"/>
          <p:cNvSpPr/>
          <p:nvPr/>
        </p:nvSpPr>
        <p:spPr>
          <a:xfrm>
            <a:off x="8046720" y="3310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Swarna B</a:t>
            </a:r>
          </a:p>
        </p:txBody>
      </p:sp>
      <p:sp>
        <p:nvSpPr>
          <p:cNvPr id="13" name="Text 10"/>
          <p:cNvSpPr/>
          <p:nvPr/>
        </p:nvSpPr>
        <p:spPr>
          <a:xfrm>
            <a:off x="8046720" y="3602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Janhavi Shivajirao Patole</a:t>
            </a:r>
          </a:p>
        </p:txBody>
      </p:sp>
      <p:sp>
        <p:nvSpPr>
          <p:cNvPr id="14" name="Text 11"/>
          <p:cNvSpPr/>
          <p:nvPr/>
        </p:nvSpPr>
        <p:spPr>
          <a:xfrm>
            <a:off x="8046720" y="38953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</a:rPr>
              <a:t>Balaji.B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187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</a:rPr>
              <a:t>Nishita Thakur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4672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</a:rPr>
              <a:t>Gaware Suhani Subhash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4672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0"/>
                </a:solidFill>
              </a:rPr>
              <a:t>Singh Harsh Gyanendra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0" y="4919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40080" y="5212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1496</Words>
  <Application>Microsoft Office PowerPoint</Application>
  <PresentationFormat>Widescreen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- Sales Analysis Report</dc:title>
  <dc:subject>PptxGenJS Presentation</dc:subject>
  <dc:creator>Group 3</dc:creator>
  <cp:lastModifiedBy>Microsoft account</cp:lastModifiedBy>
  <cp:revision>2</cp:revision>
  <dcterms:created xsi:type="dcterms:W3CDTF">2026-06-05T08:12:12Z</dcterms:created>
  <dcterms:modified xsi:type="dcterms:W3CDTF">2026-06-05T08:32:20Z</dcterms:modified>
</cp:coreProperties>
</file>